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9"/>
  </p:notesMasterIdLst>
  <p:sldIdLst>
    <p:sldId id="256" r:id="rId2"/>
    <p:sldId id="257" r:id="rId3"/>
    <p:sldId id="260" r:id="rId4"/>
    <p:sldId id="259" r:id="rId5"/>
    <p:sldId id="261" r:id="rId6"/>
    <p:sldId id="263" r:id="rId7"/>
    <p:sldId id="262" r:id="rId8"/>
    <p:sldId id="266" r:id="rId9"/>
    <p:sldId id="265" r:id="rId10"/>
    <p:sldId id="267" r:id="rId11"/>
    <p:sldId id="273" r:id="rId12"/>
    <p:sldId id="268" r:id="rId13"/>
    <p:sldId id="269" r:id="rId14"/>
    <p:sldId id="270" r:id="rId15"/>
    <p:sldId id="271" r:id="rId16"/>
    <p:sldId id="272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55"/>
    <p:restoredTop sz="94694"/>
  </p:normalViewPr>
  <p:slideViewPr>
    <p:cSldViewPr snapToGrid="0">
      <p:cViewPr varScale="1">
        <p:scale>
          <a:sx n="114" d="100"/>
          <a:sy n="114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2CC47-95D7-FE4B-8DB4-756445D44DAA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2D4A3-E826-EB46-BA3E-369717969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2D4A3-E826-EB46-BA3E-3697179693F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1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C766E-6DB1-F84F-A7B6-7D62C62744AA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7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3D71E-3A44-464E-B7E6-8D23BFC0EB97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1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92D6-4FD1-9049-BABD-4C512EC4395F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977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2A79-62BD-4E4F-B221-D2C2E29DD8C6}" type="datetime1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82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707A5-D18F-D445-A448-966C148AEB04}" type="datetime1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0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01D4-BB01-7D4C-B8C3-E4A13BA17086}" type="datetime1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50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85C6-B434-F44C-BCE0-F5199F402B03}" type="datetime1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7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06FDB-8D76-4F4E-A38B-335B39E69837}" type="datetime1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1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9D5C-00D5-C545-B169-55DC4A3F81D5}" type="datetime1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5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95933-E54D-B24A-8678-F33E482DCFB9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2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F9757-5ED5-E640-A9FB-0BC4940269BE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8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59194-FC74-834F-A1E7-DAD04977E1DC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9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waetech/chipwhisperer" TargetMode="External"/><Relationship Id="rId2" Type="http://schemas.openxmlformats.org/officeDocument/2006/relationships/hyperlink" Target="https://ascon.isec.tugraz.at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scon/ascon-c/" TargetMode="External"/><Relationship Id="rId4" Type="http://schemas.openxmlformats.org/officeDocument/2006/relationships/hyperlink" Target="https://chipwhisperer.readthedocs.io/en/latest/index.html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35AE2F-5E3A-49D9-8DE1-8A333BA40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0A929-36AD-D09E-1480-2572D60E37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733" r="-1" b="745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2EAB54-42AE-3258-E6C9-CEABA867A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 rtl="0">
              <a:lnSpc>
                <a:spcPct val="90000"/>
              </a:lnSpc>
            </a:pPr>
            <a:r>
              <a:rPr lang="en-US" sz="5300" b="0" i="0" u="none" strike="noStrike" dirty="0">
                <a:effectLst/>
                <a:latin typeface="Roboto" panose="02000000000000000000" pitchFamily="2" charset="0"/>
              </a:rPr>
              <a:t>Side-channel power attack against a cryptographic software</a:t>
            </a:r>
            <a:br>
              <a:rPr lang="en-US" sz="5300" b="0" dirty="0">
                <a:effectLst/>
              </a:rPr>
            </a:br>
            <a:endParaRPr lang="en-US" sz="5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06597-6CFA-7DE4-7F26-669A5DFAC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9432"/>
            <a:ext cx="9144000" cy="1225296"/>
          </a:xfrm>
        </p:spPr>
        <p:txBody>
          <a:bodyPr>
            <a:normAutofit/>
          </a:bodyPr>
          <a:lstStyle/>
          <a:p>
            <a:pPr algn="ctr" rtl="0">
              <a:lnSpc>
                <a:spcPct val="100000"/>
              </a:lnSpc>
            </a:pPr>
            <a:r>
              <a:rPr lang="en-US" sz="3200" b="0" i="0" u="none" strike="noStrike" dirty="0">
                <a:effectLst/>
                <a:latin typeface="Roboto" panose="02000000000000000000" pitchFamily="2" charset="0"/>
              </a:rPr>
              <a:t>Metehan Koç</a:t>
            </a:r>
            <a:endParaRPr lang="en-US" sz="3200" b="0" dirty="0">
              <a:effectLst/>
            </a:endParaRPr>
          </a:p>
          <a:p>
            <a:pPr algn="ctr" rtl="0">
              <a:lnSpc>
                <a:spcPct val="100000"/>
              </a:lnSpc>
            </a:pPr>
            <a:r>
              <a:rPr lang="en-US" sz="3200" b="0" i="0" u="none" strike="noStrike" dirty="0">
                <a:effectLst/>
                <a:latin typeface="Roboto" panose="02000000000000000000" pitchFamily="2" charset="0"/>
              </a:rPr>
              <a:t>Renaud </a:t>
            </a:r>
            <a:r>
              <a:rPr lang="en-US" sz="3200" b="0" i="0" u="none" strike="noStrike" dirty="0" err="1">
                <a:effectLst/>
                <a:latin typeface="Roboto" panose="02000000000000000000" pitchFamily="2" charset="0"/>
              </a:rPr>
              <a:t>Pacalet</a:t>
            </a:r>
            <a:endParaRPr lang="en-US" sz="3200" b="0" dirty="0">
              <a:effectLst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4D8AD8F-EF7F-481F-B99A-B85138970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9EB4626-023C-436D-9F57-9EB460809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902700 h 5416094"/>
              <a:gd name="connsiteX1" fmla="*/ 902700 w 10515600"/>
              <a:gd name="connsiteY1" fmla="*/ 0 h 5416094"/>
              <a:gd name="connsiteX2" fmla="*/ 1746919 w 10515600"/>
              <a:gd name="connsiteY2" fmla="*/ 0 h 5416094"/>
              <a:gd name="connsiteX3" fmla="*/ 2329833 w 10515600"/>
              <a:gd name="connsiteY3" fmla="*/ 0 h 5416094"/>
              <a:gd name="connsiteX4" fmla="*/ 2825644 w 10515600"/>
              <a:gd name="connsiteY4" fmla="*/ 0 h 5416094"/>
              <a:gd name="connsiteX5" fmla="*/ 3582762 w 10515600"/>
              <a:gd name="connsiteY5" fmla="*/ 0 h 5416094"/>
              <a:gd name="connsiteX6" fmla="*/ 4165675 w 10515600"/>
              <a:gd name="connsiteY6" fmla="*/ 0 h 5416094"/>
              <a:gd name="connsiteX7" fmla="*/ 5009894 w 10515600"/>
              <a:gd name="connsiteY7" fmla="*/ 0 h 5416094"/>
              <a:gd name="connsiteX8" fmla="*/ 5505706 w 10515600"/>
              <a:gd name="connsiteY8" fmla="*/ 0 h 5416094"/>
              <a:gd name="connsiteX9" fmla="*/ 6349925 w 10515600"/>
              <a:gd name="connsiteY9" fmla="*/ 0 h 5416094"/>
              <a:gd name="connsiteX10" fmla="*/ 6758634 w 10515600"/>
              <a:gd name="connsiteY10" fmla="*/ 0 h 5416094"/>
              <a:gd name="connsiteX11" fmla="*/ 7428650 w 10515600"/>
              <a:gd name="connsiteY11" fmla="*/ 0 h 5416094"/>
              <a:gd name="connsiteX12" fmla="*/ 8098665 w 10515600"/>
              <a:gd name="connsiteY12" fmla="*/ 0 h 5416094"/>
              <a:gd name="connsiteX13" fmla="*/ 8681579 w 10515600"/>
              <a:gd name="connsiteY13" fmla="*/ 0 h 5416094"/>
              <a:gd name="connsiteX14" fmla="*/ 9612900 w 10515600"/>
              <a:gd name="connsiteY14" fmla="*/ 0 h 5416094"/>
              <a:gd name="connsiteX15" fmla="*/ 10515600 w 10515600"/>
              <a:gd name="connsiteY15" fmla="*/ 902700 h 5416094"/>
              <a:gd name="connsiteX16" fmla="*/ 10515600 w 10515600"/>
              <a:gd name="connsiteY16" fmla="*/ 1504482 h 5416094"/>
              <a:gd name="connsiteX17" fmla="*/ 10515600 w 10515600"/>
              <a:gd name="connsiteY17" fmla="*/ 2178479 h 5416094"/>
              <a:gd name="connsiteX18" fmla="*/ 10515600 w 10515600"/>
              <a:gd name="connsiteY18" fmla="*/ 2780261 h 5416094"/>
              <a:gd name="connsiteX19" fmla="*/ 10515600 w 10515600"/>
              <a:gd name="connsiteY19" fmla="*/ 3273722 h 5416094"/>
              <a:gd name="connsiteX20" fmla="*/ 10515600 w 10515600"/>
              <a:gd name="connsiteY20" fmla="*/ 3803291 h 5416094"/>
              <a:gd name="connsiteX21" fmla="*/ 10515600 w 10515600"/>
              <a:gd name="connsiteY21" fmla="*/ 4513394 h 5416094"/>
              <a:gd name="connsiteX22" fmla="*/ 9612900 w 10515600"/>
              <a:gd name="connsiteY22" fmla="*/ 5416094 h 5416094"/>
              <a:gd name="connsiteX23" fmla="*/ 9117089 w 10515600"/>
              <a:gd name="connsiteY23" fmla="*/ 5416094 h 5416094"/>
              <a:gd name="connsiteX24" fmla="*/ 8708379 w 10515600"/>
              <a:gd name="connsiteY24" fmla="*/ 5416094 h 5416094"/>
              <a:gd name="connsiteX25" fmla="*/ 8299670 w 10515600"/>
              <a:gd name="connsiteY25" fmla="*/ 5416094 h 5416094"/>
              <a:gd name="connsiteX26" fmla="*/ 7629654 w 10515600"/>
              <a:gd name="connsiteY26" fmla="*/ 5416094 h 5416094"/>
              <a:gd name="connsiteX27" fmla="*/ 7133843 w 10515600"/>
              <a:gd name="connsiteY27" fmla="*/ 5416094 h 5416094"/>
              <a:gd name="connsiteX28" fmla="*/ 6376726 w 10515600"/>
              <a:gd name="connsiteY28" fmla="*/ 5416094 h 5416094"/>
              <a:gd name="connsiteX29" fmla="*/ 5880914 w 10515600"/>
              <a:gd name="connsiteY29" fmla="*/ 5416094 h 5416094"/>
              <a:gd name="connsiteX30" fmla="*/ 5123797 w 10515600"/>
              <a:gd name="connsiteY30" fmla="*/ 5416094 h 5416094"/>
              <a:gd name="connsiteX31" fmla="*/ 4715088 w 10515600"/>
              <a:gd name="connsiteY31" fmla="*/ 5416094 h 5416094"/>
              <a:gd name="connsiteX32" fmla="*/ 3957970 w 10515600"/>
              <a:gd name="connsiteY32" fmla="*/ 5416094 h 5416094"/>
              <a:gd name="connsiteX33" fmla="*/ 3462159 w 10515600"/>
              <a:gd name="connsiteY33" fmla="*/ 5416094 h 5416094"/>
              <a:gd name="connsiteX34" fmla="*/ 3053449 w 10515600"/>
              <a:gd name="connsiteY34" fmla="*/ 5416094 h 5416094"/>
              <a:gd name="connsiteX35" fmla="*/ 2557638 w 10515600"/>
              <a:gd name="connsiteY35" fmla="*/ 5416094 h 5416094"/>
              <a:gd name="connsiteX36" fmla="*/ 1800521 w 10515600"/>
              <a:gd name="connsiteY36" fmla="*/ 5416094 h 5416094"/>
              <a:gd name="connsiteX37" fmla="*/ 902700 w 10515600"/>
              <a:gd name="connsiteY37" fmla="*/ 5416094 h 5416094"/>
              <a:gd name="connsiteX38" fmla="*/ 0 w 10515600"/>
              <a:gd name="connsiteY38" fmla="*/ 4513394 h 5416094"/>
              <a:gd name="connsiteX39" fmla="*/ 0 w 10515600"/>
              <a:gd name="connsiteY39" fmla="*/ 3911612 h 5416094"/>
              <a:gd name="connsiteX40" fmla="*/ 0 w 10515600"/>
              <a:gd name="connsiteY40" fmla="*/ 3309829 h 5416094"/>
              <a:gd name="connsiteX41" fmla="*/ 0 w 10515600"/>
              <a:gd name="connsiteY41" fmla="*/ 2780261 h 5416094"/>
              <a:gd name="connsiteX42" fmla="*/ 0 w 10515600"/>
              <a:gd name="connsiteY42" fmla="*/ 2106265 h 5416094"/>
              <a:gd name="connsiteX43" fmla="*/ 0 w 10515600"/>
              <a:gd name="connsiteY43" fmla="*/ 1504482 h 5416094"/>
              <a:gd name="connsiteX44" fmla="*/ 0 w 10515600"/>
              <a:gd name="connsiteY44" fmla="*/ 90270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515600" h="5416094" extrusionOk="0">
                <a:moveTo>
                  <a:pt x="0" y="902700"/>
                </a:moveTo>
                <a:cubicBezTo>
                  <a:pt x="-57306" y="368805"/>
                  <a:pt x="305054" y="37193"/>
                  <a:pt x="902700" y="0"/>
                </a:cubicBezTo>
                <a:cubicBezTo>
                  <a:pt x="1280419" y="-35006"/>
                  <a:pt x="1407743" y="-35339"/>
                  <a:pt x="1746919" y="0"/>
                </a:cubicBezTo>
                <a:cubicBezTo>
                  <a:pt x="2086095" y="35339"/>
                  <a:pt x="2146539" y="-12333"/>
                  <a:pt x="2329833" y="0"/>
                </a:cubicBezTo>
                <a:cubicBezTo>
                  <a:pt x="2513127" y="12333"/>
                  <a:pt x="2706706" y="12952"/>
                  <a:pt x="2825644" y="0"/>
                </a:cubicBezTo>
                <a:cubicBezTo>
                  <a:pt x="2944582" y="-12952"/>
                  <a:pt x="3420817" y="-27100"/>
                  <a:pt x="3582762" y="0"/>
                </a:cubicBezTo>
                <a:cubicBezTo>
                  <a:pt x="3744707" y="27100"/>
                  <a:pt x="4023584" y="-9167"/>
                  <a:pt x="4165675" y="0"/>
                </a:cubicBezTo>
                <a:cubicBezTo>
                  <a:pt x="4307766" y="9167"/>
                  <a:pt x="4770188" y="27031"/>
                  <a:pt x="5009894" y="0"/>
                </a:cubicBezTo>
                <a:cubicBezTo>
                  <a:pt x="5249600" y="-27031"/>
                  <a:pt x="5349881" y="-194"/>
                  <a:pt x="5505706" y="0"/>
                </a:cubicBezTo>
                <a:cubicBezTo>
                  <a:pt x="5661531" y="194"/>
                  <a:pt x="6129254" y="-29363"/>
                  <a:pt x="6349925" y="0"/>
                </a:cubicBezTo>
                <a:cubicBezTo>
                  <a:pt x="6570596" y="29363"/>
                  <a:pt x="6581199" y="-14617"/>
                  <a:pt x="6758634" y="0"/>
                </a:cubicBezTo>
                <a:cubicBezTo>
                  <a:pt x="6936069" y="14617"/>
                  <a:pt x="7246491" y="25675"/>
                  <a:pt x="7428650" y="0"/>
                </a:cubicBezTo>
                <a:cubicBezTo>
                  <a:pt x="7610809" y="-25675"/>
                  <a:pt x="7825190" y="-17078"/>
                  <a:pt x="8098665" y="0"/>
                </a:cubicBezTo>
                <a:cubicBezTo>
                  <a:pt x="8372141" y="17078"/>
                  <a:pt x="8559625" y="-21568"/>
                  <a:pt x="8681579" y="0"/>
                </a:cubicBezTo>
                <a:cubicBezTo>
                  <a:pt x="8803533" y="21568"/>
                  <a:pt x="9307226" y="-46066"/>
                  <a:pt x="9612900" y="0"/>
                </a:cubicBezTo>
                <a:cubicBezTo>
                  <a:pt x="10119954" y="-10560"/>
                  <a:pt x="10418674" y="366684"/>
                  <a:pt x="10515600" y="902700"/>
                </a:cubicBezTo>
                <a:cubicBezTo>
                  <a:pt x="10494548" y="1140809"/>
                  <a:pt x="10524881" y="1252168"/>
                  <a:pt x="10515600" y="1504482"/>
                </a:cubicBezTo>
                <a:cubicBezTo>
                  <a:pt x="10506319" y="1756796"/>
                  <a:pt x="10494309" y="1995078"/>
                  <a:pt x="10515600" y="2178479"/>
                </a:cubicBezTo>
                <a:cubicBezTo>
                  <a:pt x="10536891" y="2361880"/>
                  <a:pt x="10522845" y="2487483"/>
                  <a:pt x="10515600" y="2780261"/>
                </a:cubicBezTo>
                <a:cubicBezTo>
                  <a:pt x="10508355" y="3073039"/>
                  <a:pt x="10533694" y="3138252"/>
                  <a:pt x="10515600" y="3273722"/>
                </a:cubicBezTo>
                <a:cubicBezTo>
                  <a:pt x="10497506" y="3409192"/>
                  <a:pt x="10514952" y="3569910"/>
                  <a:pt x="10515600" y="3803291"/>
                </a:cubicBezTo>
                <a:cubicBezTo>
                  <a:pt x="10516248" y="4036672"/>
                  <a:pt x="10499126" y="4317688"/>
                  <a:pt x="10515600" y="4513394"/>
                </a:cubicBezTo>
                <a:cubicBezTo>
                  <a:pt x="10585499" y="4997151"/>
                  <a:pt x="10115437" y="5453981"/>
                  <a:pt x="9612900" y="5416094"/>
                </a:cubicBezTo>
                <a:cubicBezTo>
                  <a:pt x="9473271" y="5418358"/>
                  <a:pt x="9316384" y="5423764"/>
                  <a:pt x="9117089" y="5416094"/>
                </a:cubicBezTo>
                <a:cubicBezTo>
                  <a:pt x="8917794" y="5408424"/>
                  <a:pt x="8902141" y="5433256"/>
                  <a:pt x="8708379" y="5416094"/>
                </a:cubicBezTo>
                <a:cubicBezTo>
                  <a:pt x="8514617" y="5398933"/>
                  <a:pt x="8454700" y="5422387"/>
                  <a:pt x="8299670" y="5416094"/>
                </a:cubicBezTo>
                <a:cubicBezTo>
                  <a:pt x="8144640" y="5409801"/>
                  <a:pt x="7907022" y="5398388"/>
                  <a:pt x="7629654" y="5416094"/>
                </a:cubicBezTo>
                <a:cubicBezTo>
                  <a:pt x="7352286" y="5433800"/>
                  <a:pt x="7244777" y="5409877"/>
                  <a:pt x="7133843" y="5416094"/>
                </a:cubicBezTo>
                <a:cubicBezTo>
                  <a:pt x="7022909" y="5422311"/>
                  <a:pt x="6748865" y="5379753"/>
                  <a:pt x="6376726" y="5416094"/>
                </a:cubicBezTo>
                <a:cubicBezTo>
                  <a:pt x="6004587" y="5452435"/>
                  <a:pt x="5991442" y="5438860"/>
                  <a:pt x="5880914" y="5416094"/>
                </a:cubicBezTo>
                <a:cubicBezTo>
                  <a:pt x="5770386" y="5393328"/>
                  <a:pt x="5294303" y="5440618"/>
                  <a:pt x="5123797" y="5416094"/>
                </a:cubicBezTo>
                <a:cubicBezTo>
                  <a:pt x="4953291" y="5391570"/>
                  <a:pt x="4828705" y="5430421"/>
                  <a:pt x="4715088" y="5416094"/>
                </a:cubicBezTo>
                <a:cubicBezTo>
                  <a:pt x="4601471" y="5401767"/>
                  <a:pt x="4227806" y="5381491"/>
                  <a:pt x="3957970" y="5416094"/>
                </a:cubicBezTo>
                <a:cubicBezTo>
                  <a:pt x="3688134" y="5450697"/>
                  <a:pt x="3670638" y="5425309"/>
                  <a:pt x="3462159" y="5416094"/>
                </a:cubicBezTo>
                <a:cubicBezTo>
                  <a:pt x="3253680" y="5406879"/>
                  <a:pt x="3167443" y="5432031"/>
                  <a:pt x="3053449" y="5416094"/>
                </a:cubicBezTo>
                <a:cubicBezTo>
                  <a:pt x="2939455" y="5400158"/>
                  <a:pt x="2701485" y="5433995"/>
                  <a:pt x="2557638" y="5416094"/>
                </a:cubicBezTo>
                <a:cubicBezTo>
                  <a:pt x="2413791" y="5398193"/>
                  <a:pt x="2168647" y="5424510"/>
                  <a:pt x="1800521" y="5416094"/>
                </a:cubicBezTo>
                <a:cubicBezTo>
                  <a:pt x="1432395" y="5407678"/>
                  <a:pt x="1261364" y="5454497"/>
                  <a:pt x="902700" y="5416094"/>
                </a:cubicBezTo>
                <a:cubicBezTo>
                  <a:pt x="519468" y="5419760"/>
                  <a:pt x="63003" y="5077223"/>
                  <a:pt x="0" y="4513394"/>
                </a:cubicBezTo>
                <a:cubicBezTo>
                  <a:pt x="-20265" y="4243495"/>
                  <a:pt x="27650" y="4053844"/>
                  <a:pt x="0" y="3911612"/>
                </a:cubicBezTo>
                <a:cubicBezTo>
                  <a:pt x="-27650" y="3769380"/>
                  <a:pt x="24988" y="3469350"/>
                  <a:pt x="0" y="3309829"/>
                </a:cubicBezTo>
                <a:cubicBezTo>
                  <a:pt x="-24988" y="3150308"/>
                  <a:pt x="-16973" y="2933511"/>
                  <a:pt x="0" y="2780261"/>
                </a:cubicBezTo>
                <a:cubicBezTo>
                  <a:pt x="16973" y="2627011"/>
                  <a:pt x="-11552" y="2315258"/>
                  <a:pt x="0" y="2106265"/>
                </a:cubicBezTo>
                <a:cubicBezTo>
                  <a:pt x="11552" y="1897272"/>
                  <a:pt x="-9167" y="1726905"/>
                  <a:pt x="0" y="1504482"/>
                </a:cubicBezTo>
                <a:cubicBezTo>
                  <a:pt x="9167" y="1282059"/>
                  <a:pt x="10972" y="1160784"/>
                  <a:pt x="0" y="902700"/>
                </a:cubicBezTo>
                <a:close/>
              </a:path>
            </a:pathLst>
          </a:custGeom>
          <a:noFill/>
          <a:ln w="60325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2513B-D349-2741-6FF9-0F189769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8AD7-9924-75A4-10A3-9EADB37C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BF5EFA-E644-676B-CFC7-EE6BF61124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50"/>
          <a:stretch/>
        </p:blipFill>
        <p:spPr bwMode="auto">
          <a:xfrm>
            <a:off x="5741232" y="2487860"/>
            <a:ext cx="5261548" cy="322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EC651B-EDAD-3D78-90F7-4B5E8BD1A88D}"/>
              </a:ext>
            </a:extLst>
          </p:cNvPr>
          <p:cNvSpPr txBox="1"/>
          <p:nvPr/>
        </p:nvSpPr>
        <p:spPr>
          <a:xfrm>
            <a:off x="838199" y="2487860"/>
            <a:ext cx="374481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/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Objective: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Capture power traces of ASCON algorithm to extract private key by side channel attacks.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</a:pPr>
            <a:endParaRPr lang="en-US" sz="2400" b="1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rtl="0" fontAlgn="base">
              <a:spcAft>
                <a:spcPts val="12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Target Hardware: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32-bit ARM chip via CW-Husky.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013F5-3AC0-B4E3-354F-92177DDC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8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18AA-3A16-6B7D-50CD-36899573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ascon?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9CFEF-F002-12E9-F347-AFB4FF0AC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0915"/>
            <a:ext cx="10515600" cy="4251960"/>
          </a:xfrm>
        </p:spPr>
        <p:txBody>
          <a:bodyPr>
            <a:normAutofit/>
          </a:bodyPr>
          <a:lstStyle/>
          <a:p>
            <a:pPr rtl="0">
              <a:lnSpc>
                <a:spcPct val="100000"/>
              </a:lnSpc>
              <a:spcAft>
                <a:spcPts val="1200"/>
              </a:spcAft>
            </a:pP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Purpose: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Provides high security with low overhead, making it ideal for the </a:t>
            </a: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Internet of Things (IoT)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embedded sensors, and medical devices.</a:t>
            </a:r>
            <a:endParaRPr lang="en-US" sz="2400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rtl="0">
              <a:lnSpc>
                <a:spcPct val="100000"/>
              </a:lnSpc>
              <a:spcAft>
                <a:spcPts val="1200"/>
              </a:spcAft>
            </a:pP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Functionality: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It is primarily an </a:t>
            </a: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Authenticated Encryption with Associated Data (AEAD)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scheme, meaning it provides both </a:t>
            </a: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confidentiality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(encryption) and </a:t>
            </a: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integrity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(tamper protection) in a single process.</a:t>
            </a:r>
            <a:endParaRPr lang="en-US" sz="2400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rtl="0">
              <a:lnSpc>
                <a:spcPct val="100000"/>
              </a:lnSpc>
              <a:spcAft>
                <a:spcPts val="1200"/>
              </a:spcAft>
            </a:pP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 Philosophy: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It is based on a </a:t>
            </a:r>
            <a:r>
              <a:rPr lang="en-US" sz="240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sponge construction</a:t>
            </a:r>
            <a:r>
              <a:rPr lang="en-US" sz="2400" b="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similar to the SHA-3 (Keccak) hashing standard.</a:t>
            </a:r>
            <a:endParaRPr lang="en-US" sz="2400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13EC0-644B-04E6-46E6-F16E0BE1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8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A6AE-5E9E-4E4C-7D12-77A8FCAC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ascon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DF9C9-5E22-7A9C-2411-581459A36DCE}"/>
              </a:ext>
            </a:extLst>
          </p:cNvPr>
          <p:cNvSpPr txBox="1"/>
          <p:nvPr/>
        </p:nvSpPr>
        <p:spPr>
          <a:xfrm>
            <a:off x="838200" y="2273778"/>
            <a:ext cx="5401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Initialization: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Mixes Key, Nonce, and IV into the 320-bit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Associated Data: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Absorbs non-encrypted data into the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Processing: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XORs plaintext/ciphertext to encrypt or decrypt.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Finalization: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Generates the 128-bit tag for verification.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5BE3856-428F-C613-C4E4-C37E0E7E5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9256" y="2746233"/>
            <a:ext cx="5641340" cy="1892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62CD68-A282-E16A-10A2-2BC74CB8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2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473F-A16B-94DA-51C0-8C873367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Ascon Permutations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6CF2A8-34B0-AD1A-F320-77D413B12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1184" y="2137950"/>
            <a:ext cx="2844800" cy="195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26FC04-9F4C-F66C-C681-AFA38C35B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184" y="4456688"/>
            <a:ext cx="2527300" cy="1701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6D47D4-2C91-31F3-7A2A-DA10320197AE}"/>
              </a:ext>
            </a:extLst>
          </p:cNvPr>
          <p:cNvSpPr txBox="1"/>
          <p:nvPr/>
        </p:nvSpPr>
        <p:spPr>
          <a:xfrm>
            <a:off x="838200" y="2137950"/>
            <a:ext cx="56479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Addition of Round Constants: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XORs a unique 1-byte constant into the middle word (S</a:t>
            </a:r>
            <a:r>
              <a:rPr lang="en-US" sz="2400" baseline="-25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endParaRPr lang="en-US" sz="24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Nonlinear Substitution Layer: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Applies a 5-bit S-box "vertically" across all 5 words (64 times in parallel).</a:t>
            </a:r>
          </a:p>
          <a:p>
            <a:endParaRPr lang="en-US" sz="24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Linear Diffusion Layer: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XORs each 64-bit word with two of its own rotated copies.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F41F3-AB56-F157-65F8-7C318E69C578}"/>
              </a:ext>
            </a:extLst>
          </p:cNvPr>
          <p:cNvSpPr txBox="1"/>
          <p:nvPr/>
        </p:nvSpPr>
        <p:spPr>
          <a:xfrm>
            <a:off x="8052689" y="4021781"/>
            <a:ext cx="1621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Ascon’s S-box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4E753-2BF3-16BA-0173-9ED80D703465}"/>
              </a:ext>
            </a:extLst>
          </p:cNvPr>
          <p:cNvSpPr txBox="1"/>
          <p:nvPr/>
        </p:nvSpPr>
        <p:spPr>
          <a:xfrm>
            <a:off x="7719441" y="6111465"/>
            <a:ext cx="197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Ascon’s linear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6E97E-CE6E-C7DF-C417-D1284086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6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7D64E-E387-51E1-D126-F2958BAA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ASCON State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1287-8161-C854-D1B6-430890A21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7880"/>
            <a:ext cx="4818888" cy="425196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2400" b="1" baseline="-25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64-bit IV (contains algorithm-specific constants).</a:t>
            </a:r>
          </a:p>
          <a:p>
            <a:endParaRPr lang="en-US" sz="24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2400" b="1" baseline="-25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</a:t>
            </a:r>
            <a:r>
              <a:rPr lang="en-US" sz="2400" b="1" baseline="-25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128-bit Secret Key (K).</a:t>
            </a:r>
          </a:p>
          <a:p>
            <a:endParaRPr lang="en-US" sz="24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2400" b="1" baseline="-25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</a:t>
            </a:r>
            <a:r>
              <a:rPr lang="en-US" sz="2400" b="1" baseline="-25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128-bit Nonce (N).</a:t>
            </a:r>
          </a:p>
          <a:p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E2FBD-7FA1-0041-E464-0317165A4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70582"/>
            <a:ext cx="4818888" cy="28239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05FBA-FDEC-B60E-B230-B0DEBB7C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4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F01A-F038-2FF7-58D1-71BBF970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layer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AF0447-1D30-B1BB-BB68-42AEA795B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6189"/>
            <a:ext cx="10515600" cy="3365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7EBCC-D8AE-3C4A-7262-52F8728BF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14108"/>
            <a:ext cx="7772400" cy="582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C4ED5E-AA18-96CE-3EEC-E4B877FD5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8231"/>
            <a:ext cx="7772400" cy="582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7349DE-5980-B499-F5D2-BC39A6BA5038}"/>
              </a:ext>
            </a:extLst>
          </p:cNvPr>
          <p:cNvSpPr txBox="1"/>
          <p:nvPr/>
        </p:nvSpPr>
        <p:spPr>
          <a:xfrm>
            <a:off x="9253728" y="5314108"/>
            <a:ext cx="2279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Assembly presentation of C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57094C-A9C5-7470-1CCC-8492930E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9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DB5B-6D2F-2CBB-036E-0FCCCDE9E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and KAT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908C-C39E-CE72-812B-FABDFB3F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9112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Implementation: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ASCON AEAD encryption and decryption algorithms implemented by using C (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ascon.c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ascon.h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Dataset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Utilized a comprehensive suite of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1,000 test cases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derived from the official reference implementation.</a:t>
            </a:r>
          </a:p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Software Validation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Developed a C script (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test_ascon.c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to verify encryption/decryption consistency across the entire dataset.</a:t>
            </a:r>
          </a:p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Result: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ASCON implementation pass the all tests and it verified the correctness of the implementations.</a:t>
            </a:r>
            <a:endParaRPr lang="en-US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529DD-EE25-36C5-FBD6-1191932B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60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F1AA-2535-B1E7-1100-590CCE5F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FIRMWARE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FC05B2-4004-D1F2-F199-04C51C47E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5343" y="2061685"/>
            <a:ext cx="5297913" cy="4252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AF7974-10A9-6E4A-C85B-E7467AA47F84}"/>
              </a:ext>
            </a:extLst>
          </p:cNvPr>
          <p:cNvSpPr txBox="1"/>
          <p:nvPr/>
        </p:nvSpPr>
        <p:spPr>
          <a:xfrm>
            <a:off x="838200" y="2061684"/>
            <a:ext cx="50784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Target firmware is implemented in 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Removed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get_AD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get_PT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optimize firmware for collecting traces.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get_key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Sets the private key for ASCON.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get_nonce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Sets the nonce and starts the first permutation round.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99210D-8F3E-8445-962A-B10996EA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58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857B-3E2E-64E8-DCAD-0650380C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channel attack to ASCON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CE818-8565-CB68-A1A4-0700A1E80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effectLst/>
                <a:latin typeface="Google Sans Text"/>
              </a:rPr>
              <a:t>To handle the complexity of the 32-bit K</a:t>
            </a:r>
            <a:r>
              <a:rPr lang="en-US" baseline="-25000" dirty="0">
                <a:effectLst/>
                <a:latin typeface="Google Sans Text"/>
              </a:rPr>
              <a:t>0</a:t>
            </a:r>
            <a:r>
              <a:rPr lang="en-US" dirty="0">
                <a:effectLst/>
                <a:latin typeface="Google Sans Text"/>
              </a:rPr>
              <a:t>_low register, the attack uses a </a:t>
            </a:r>
            <a:r>
              <a:rPr lang="en-US" b="1" dirty="0">
                <a:effectLst/>
                <a:latin typeface="Google Sans Text"/>
              </a:rPr>
              <a:t>Divide-and-Conquer</a:t>
            </a:r>
            <a:r>
              <a:rPr lang="en-US" dirty="0">
                <a:effectLst/>
                <a:latin typeface="Google Sans Text"/>
              </a:rPr>
              <a:t> strategy combined with an iterative power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Google Sans Text"/>
              </a:rPr>
              <a:t>Target:</a:t>
            </a:r>
            <a:r>
              <a:rPr lang="en-US" dirty="0">
                <a:effectLst/>
                <a:latin typeface="Google Sans Text"/>
              </a:rPr>
              <a:t> K</a:t>
            </a:r>
            <a:r>
              <a:rPr lang="en-US" baseline="-25000" dirty="0">
                <a:effectLst/>
                <a:latin typeface="Google Sans Text"/>
              </a:rPr>
              <a:t>0</a:t>
            </a:r>
            <a:r>
              <a:rPr lang="en-US" dirty="0">
                <a:effectLst/>
                <a:latin typeface="Google Sans Text"/>
              </a:rPr>
              <a:t>_low (Lower 32 bits of the first 64-bit key chunk).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Google Sans Text"/>
              </a:rPr>
              <a:t>Strategy:</a:t>
            </a:r>
            <a:r>
              <a:rPr lang="en-US" dirty="0">
                <a:effectLst/>
                <a:latin typeface="Google Sans Text"/>
              </a:rPr>
              <a:t> Two 16-bit sub-key guesses (65,536 hypotheses each) to reduce computational overhead.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Google Sans Text"/>
              </a:rPr>
              <a:t>Power Model:</a:t>
            </a:r>
            <a:r>
              <a:rPr lang="en-US" dirty="0">
                <a:effectLst/>
                <a:latin typeface="Google Sans Text"/>
              </a:rPr>
              <a:t> Hamming Weight (HW) of the intermediate state R</a:t>
            </a:r>
            <a:r>
              <a:rPr lang="en-US" baseline="-25000" dirty="0">
                <a:effectLst/>
                <a:latin typeface="Google Sans Text"/>
              </a:rPr>
              <a:t>8</a:t>
            </a:r>
            <a:r>
              <a:rPr lang="en-US" dirty="0">
                <a:effectLst/>
                <a:latin typeface="Google Sans Text"/>
              </a:rPr>
              <a:t>, modeled as: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Google Sans Text"/>
              </a:rPr>
              <a:t>Dataset:</a:t>
            </a:r>
            <a:r>
              <a:rPr lang="en-US" dirty="0">
                <a:effectLst/>
                <a:latin typeface="Google Sans Text"/>
              </a:rPr>
              <a:t> 500,000 power traces processed using vectorized NumPy operations for high-speed correlation calculation.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04152E-A961-A6B8-B926-20E43FFD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" y="4731258"/>
            <a:ext cx="4699000" cy="4191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8381E-6C97-CCEB-C630-C9BC6C2E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58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0933-0749-EA51-A9E7-EB0FD792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 of 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593E6-10FB-4C7B-24D1-C4EAC5E62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671048" cy="4251960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Before running a full-scale attack on an unknown key, we use a </a:t>
            </a:r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Known Key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verify that the power traces are correctly synchronized with the ASCON cryptographic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Hypothesis: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If our model (R</a:t>
            </a:r>
            <a:r>
              <a:rPr lang="en-US" sz="2400" baseline="-25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register state) is correct and the traces are aligned, we should see a distinct correlation spike at the exact moment that register is manipulated in hardware.</a:t>
            </a:r>
          </a:p>
        </p:txBody>
      </p:sp>
      <p:pic>
        <p:nvPicPr>
          <p:cNvPr id="5" name="Picture 4" descr="A graph showing a blue line&#10;&#10;Description automatically generated">
            <a:extLst>
              <a:ext uri="{FF2B5EF4-FFF2-40B4-BE49-F238E27FC236}">
                <a16:creationId xmlns:a16="http://schemas.microsoft.com/office/drawing/2014/main" id="{C4C2A696-B024-5DD8-77B6-03E6F55D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304" y="4540490"/>
            <a:ext cx="5803392" cy="21833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F15A2-C0B5-F20A-5125-47EFBB17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2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A58F-5368-305D-14A5-A4601DE1D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6E07F-B9E1-4F00-A44A-392138C03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Google Sans Text"/>
              </a:rPr>
              <a:t>Trace Centering:</a:t>
            </a:r>
            <a:r>
              <a:rPr lang="en-US" dirty="0">
                <a:effectLst/>
                <a:latin typeface="Google Sans Text"/>
              </a:rPr>
              <a:t> Pre-calculates mean traces and standard deviation to optimize the Pearson correlation loop.</a:t>
            </a:r>
          </a:p>
          <a:p>
            <a:r>
              <a:rPr lang="en-US" b="1" dirty="0">
                <a:effectLst/>
                <a:latin typeface="Google Sans Text"/>
              </a:rPr>
              <a:t>Iterative Recovery:</a:t>
            </a:r>
            <a:endParaRPr lang="en-US" dirty="0">
              <a:effectLst/>
              <a:latin typeface="Google Sans Text"/>
            </a:endParaRPr>
          </a:p>
          <a:p>
            <a:pPr lvl="1"/>
            <a:r>
              <a:rPr lang="en-US" b="1" dirty="0">
                <a:effectLst/>
                <a:latin typeface="Google Sans Text"/>
              </a:rPr>
              <a:t>Phase 1:</a:t>
            </a:r>
            <a:r>
              <a:rPr lang="en-US" dirty="0">
                <a:effectLst/>
                <a:latin typeface="Google Sans Text"/>
              </a:rPr>
              <a:t> Attacks Bytes 0-1 to find the first 16 bits.</a:t>
            </a:r>
          </a:p>
          <a:p>
            <a:pPr lvl="1"/>
            <a:r>
              <a:rPr lang="en-US" b="1" dirty="0">
                <a:effectLst/>
                <a:latin typeface="Google Sans Text"/>
              </a:rPr>
              <a:t>Phase 2:</a:t>
            </a:r>
            <a:r>
              <a:rPr lang="en-US" dirty="0">
                <a:effectLst/>
                <a:latin typeface="Google Sans Text"/>
              </a:rPr>
              <a:t> Attacks Bytes 2-3 while maintaining the state of the previously recovered bits.</a:t>
            </a:r>
          </a:p>
          <a:p>
            <a:r>
              <a:rPr lang="en-US" b="1" dirty="0">
                <a:effectLst/>
                <a:latin typeface="Google Sans Text"/>
              </a:rPr>
              <a:t>Statistical Selection:</a:t>
            </a:r>
            <a:r>
              <a:rPr lang="en-US" dirty="0">
                <a:effectLst/>
                <a:latin typeface="Google Sans Text"/>
              </a:rPr>
              <a:t> The candidate with the highest absolute Pearson correlation coefficient is selected as the winner for each segment.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BA32-A9BF-49F2-2F55-EE1F1C3A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31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64E1-8144-CCA5-813C-398B8767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</a:t>
            </a:r>
            <a:r>
              <a:rPr lang="en-US" dirty="0" err="1"/>
              <a:t>ko_low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5157FE-C7F0-97C6-0910-5DA71239A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6430" y="1946136"/>
            <a:ext cx="4861570" cy="4252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F76740-D29A-B83B-E941-B2B35D0EE9C2}"/>
              </a:ext>
            </a:extLst>
          </p:cNvPr>
          <p:cNvSpPr txBox="1"/>
          <p:nvPr/>
        </p:nvSpPr>
        <p:spPr>
          <a:xfrm>
            <a:off x="838200" y="1946136"/>
            <a:ext cx="44866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K0 recovered successfully (0x16157e2b)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Top results are all close to the actual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0C33D8-3EC0-1200-593D-7E18D3D7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1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4CB6-7E02-82DD-F17B-ECBFD6EA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k0_High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876B4C-360E-000E-574F-CA465A7E2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4579" y="1989772"/>
            <a:ext cx="3659482" cy="4252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28E088-4BF1-25D4-F8AE-6A73AFD3D2FB}"/>
              </a:ext>
            </a:extLst>
          </p:cNvPr>
          <p:cNvSpPr txBox="1"/>
          <p:nvPr/>
        </p:nvSpPr>
        <p:spPr>
          <a:xfrm>
            <a:off x="838200" y="1989772"/>
            <a:ext cx="36594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Results for all the bytes are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 bytes are not in top 10 guesses.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Possible reasons are false implementation, initial value of the register, noises.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A48507-F0C6-4584-240E-DCCF1386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92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1282-F445-D629-1D3C-F1C770DF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6303D-D8ED-C393-196B-EC639578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052045"/>
            <a:ext cx="11301984" cy="510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Implementation &amp; Environment</a:t>
            </a:r>
          </a:p>
          <a:p>
            <a:pPr lvl="1"/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Target: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Successful implementation of </a:t>
            </a: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Ascon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authenticated encryption on firmware.</a:t>
            </a:r>
          </a:p>
          <a:p>
            <a:pPr lvl="1"/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Acquisition: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ower traces collected from the target hardware.</a:t>
            </a:r>
          </a:p>
          <a:p>
            <a:pPr marL="0" indent="0">
              <a:buNone/>
            </a:pP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Testing &amp; Synchronization</a:t>
            </a:r>
          </a:p>
          <a:p>
            <a:pPr lvl="1"/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Ascon implementation tested both on local and target</a:t>
            </a:r>
          </a:p>
          <a:p>
            <a:pPr lvl="1"/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Trace Alignment: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Verified synchronization by comparing trace graphs across different cryptographic keys</a:t>
            </a:r>
          </a:p>
          <a:p>
            <a:pPr marL="0" indent="0">
              <a:buNone/>
            </a:pP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Side-Channel Attack (SCA) </a:t>
            </a:r>
          </a:p>
          <a:p>
            <a:pPr lvl="1"/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Side channel attack is performed by using Pearson Correlation</a:t>
            </a:r>
            <a:endParaRPr lang="en-US" sz="20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</a:t>
            </a:r>
            <a:r>
              <a:rPr lang="en-US" sz="2000" b="1" baseline="-25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_low: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Successfully recovered with high confidence</a:t>
            </a:r>
          </a:p>
          <a:p>
            <a:pPr lvl="1"/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</a:t>
            </a:r>
            <a:r>
              <a:rPr lang="en-US" sz="2000" b="1" baseline="-25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_high: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Currently not recovered; further noise reduction or trace amplification required.</a:t>
            </a:r>
            <a:r>
              <a:rPr lang="en-US" sz="20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lvl="1"/>
            <a:endParaRPr lang="en-US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endParaRPr lang="en-US" sz="20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049A-ECE7-4276-AB0E-A4547FEB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6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A00C-2A59-14F2-045A-FE268769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C86A4-F636-5A87-64EF-D84AA03AA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https://ascon.isec.tugraz.at/index.html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https://github.com/newaetech/chipwhisperer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https://chipwhisperer.readthedocs.io/en/latest/index.html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https://github.com/ascon/ascon-c/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575AD-A4AC-2F6B-BD23-81799DE3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34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55232-D857-7845-67A4-C060B3A10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listening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98145-BCE3-2C45-07B0-F03E10C8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01195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863</Words>
  <Application>Microsoft Macintosh PowerPoint</Application>
  <PresentationFormat>Widescreen</PresentationFormat>
  <Paragraphs>104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Google Sans Text</vt:lpstr>
      <vt:lpstr>Roboto</vt:lpstr>
      <vt:lpstr>The Hand Bold</vt:lpstr>
      <vt:lpstr>The Serif Hand Black</vt:lpstr>
      <vt:lpstr>Verdana</vt:lpstr>
      <vt:lpstr>SketchyVTI</vt:lpstr>
      <vt:lpstr>Side-channel power attack against a cryptographic software </vt:lpstr>
      <vt:lpstr>Project Overview</vt:lpstr>
      <vt:lpstr>What is ascon?</vt:lpstr>
      <vt:lpstr>Phases of ascon</vt:lpstr>
      <vt:lpstr>Ascon Permutations</vt:lpstr>
      <vt:lpstr>ASCON State Loading</vt:lpstr>
      <vt:lpstr>Substitution layer</vt:lpstr>
      <vt:lpstr>Implementation and KAT verification</vt:lpstr>
      <vt:lpstr>FIRMWARE</vt:lpstr>
      <vt:lpstr>Side channel attack to ASCON</vt:lpstr>
      <vt:lpstr>Synchronization of traces</vt:lpstr>
      <vt:lpstr>Execution pipeline</vt:lpstr>
      <vt:lpstr>Results for ko_low</vt:lpstr>
      <vt:lpstr>Results for k0_High</vt:lpstr>
      <vt:lpstr>summary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Koc Metehan</dc:creator>
  <cp:lastModifiedBy>Koc Metehan</cp:lastModifiedBy>
  <cp:revision>4</cp:revision>
  <dcterms:created xsi:type="dcterms:W3CDTF">2026-02-04T10:11:37Z</dcterms:created>
  <dcterms:modified xsi:type="dcterms:W3CDTF">2026-02-06T09:33:40Z</dcterms:modified>
</cp:coreProperties>
</file>